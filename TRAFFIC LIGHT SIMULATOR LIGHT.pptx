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5" r:id="rId3"/>
    <p:sldId id="264" r:id="rId4"/>
    <p:sldId id="256" r:id="rId5"/>
    <p:sldId id="257" r:id="rId6"/>
    <p:sldId id="258" r:id="rId7"/>
    <p:sldId id="259" r:id="rId8"/>
    <p:sldId id="260" r:id="rId9"/>
    <p:sldId id="262" r:id="rId10"/>
    <p:sldId id="261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9DBC"/>
    <a:srgbClr val="15344E"/>
    <a:srgbClr val="68E9E9"/>
    <a:srgbClr val="32486D"/>
    <a:srgbClr val="0F1636"/>
    <a:srgbClr val="479199"/>
    <a:srgbClr val="946870"/>
    <a:srgbClr val="474962"/>
    <a:srgbClr val="2B43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41" autoAdjust="0"/>
    <p:restoredTop sz="94660"/>
  </p:normalViewPr>
  <p:slideViewPr>
    <p:cSldViewPr snapToGrid="0">
      <p:cViewPr>
        <p:scale>
          <a:sx n="60" d="100"/>
          <a:sy n="60" d="100"/>
        </p:scale>
        <p:origin x="112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32391-9D87-CF4E-E973-5B42E47AA3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5F6363-F6DD-D9E2-54D4-D8E1EC229B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8CFDA-44C8-DF20-4068-98F4D3DB3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AA447-D057-410D-9ADB-439824BD7CFD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5265F-7395-903E-C64B-990DBE4FF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CD6DE-60E0-9FB4-3456-326EB9E7C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3C649-4457-4C0A-9491-08AC94D3CA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026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C3756-EACB-D681-74E2-D628704B3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7F2A6-7EDA-56BA-4C2D-5663FC42D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26A91-7F3D-C504-FA58-1F5A59AA8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AA447-D057-410D-9ADB-439824BD7CFD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AED3D-51F2-DFF5-ADF0-B274A4C4C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E8C67-DA48-EDCF-7C4A-8D87EEF3B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3C649-4457-4C0A-9491-08AC94D3CA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9129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E9581-58AF-001C-B15B-26CF599AA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FC462-AA9F-1507-DBE8-285947627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CC014-0CD5-2DC9-9BCA-B40C59574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AA447-D057-410D-9ADB-439824BD7CFD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7EFAF-DB29-A266-B174-3B5AD91B5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B72D0-6CA1-3EE2-0674-17A90F935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3C649-4457-4C0A-9491-08AC94D3CA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126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01DBE-7E7C-60B3-E0D0-C7416DD4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EC2E2-48A6-2310-2FAC-3A5A382142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406255-1722-766B-6933-933DABF280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74B9DD-8A6D-78E7-43DD-CE3FFF61E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AA447-D057-410D-9ADB-439824BD7CFD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C6471-30AB-BB19-B4D6-1C1ECABE6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18D478-74FC-14A6-4D85-DEDD5B3C7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3C649-4457-4C0A-9491-08AC94D3CA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918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81978-554F-FAB4-8199-3ED39F084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5012D-8FE0-88C2-DF68-6686DB51F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40D23-012B-2F52-BD66-D66CF065DB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532B52-3267-BC7B-1251-4D963737F5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6F3957-405C-7A13-282D-C77CB8A866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81BDE3-07B6-2BD4-1D27-BA8FB058C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AA447-D057-410D-9ADB-439824BD7CFD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32D7CA-1060-92EF-B7EB-93B76ADB6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7206E1-647E-2F4B-E363-764E4C313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3C649-4457-4C0A-9491-08AC94D3CA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055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22E9F-5716-A86C-6AC2-87D4530DC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06B00A-C660-1B50-FE89-4B3A1E7E1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AA447-D057-410D-9ADB-439824BD7CFD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4BDDFF-2818-D229-8E15-09194800D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DCF317-C731-FF53-2D93-F7DFF66A3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3C649-4457-4C0A-9491-08AC94D3CA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791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F345BA-6B54-022F-7A4F-3BA35247F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AA447-D057-410D-9ADB-439824BD7CFD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F0502D-309C-2BAF-BAAB-E1BBAE55A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D8372-769B-80EF-B480-7D910B6D2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3C649-4457-4C0A-9491-08AC94D3CA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641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091D5-C56A-27E5-A27B-E7C0CBDBC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FC379-1DC8-F055-6A49-205259EB9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43498D-5A8D-3F1D-5806-37CB18565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87B67C-9693-7DCE-E4C2-AE8322183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AA447-D057-410D-9ADB-439824BD7CFD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FB206-AE39-489D-050F-04EEC45CA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57990-F2BC-6A5F-7B8B-C113E069E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3C649-4457-4C0A-9491-08AC94D3CA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644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37864-993D-C6E6-5240-61C1EF9B6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D67A44-48B0-FA50-F520-FC7EFA61DE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C1CE4B-634D-720D-C4ED-2D0A4A27D7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E795B4-E034-6443-DD19-C4F36E36E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AA447-D057-410D-9ADB-439824BD7CFD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DE98B2-AF9E-AACB-6C6F-1FB48A098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7E175-F60B-C26B-4D34-36C7CA75A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3C649-4457-4C0A-9491-08AC94D3CA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16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6542E-DD26-FD27-26F9-D2F0675C2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7B26E2-264C-458D-D5D7-BE007CAFD4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F930E-D007-BB87-3C80-9CD1E9DC7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AA447-D057-410D-9ADB-439824BD7CFD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24D85-4B5A-52FD-924E-A80DB51A6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73E77-08EB-DBAA-484C-95C345451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3C649-4457-4C0A-9491-08AC94D3CA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480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202434-16E9-82ED-1843-E7771B32DA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6E19E6-4673-AA81-5DB1-BC6127F8A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8E800-1EDE-6081-8CC9-D5002A198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AA447-D057-410D-9ADB-439824BD7CFD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23DF3-8192-A385-B0D9-5E0B77103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E9405-FE2F-555B-9A34-4305A4500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3C649-4457-4C0A-9491-08AC94D3CA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841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DF5480-E330-E10A-69B7-BDDB91510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A3326-6DCB-E2D9-3805-F543931F9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B6E31-6349-0C2F-8428-B77B3F2024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1AA447-D057-410D-9ADB-439824BD7CFD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45A0F-15F9-6DB8-C8E2-2543F6843B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AD9BF-3C6D-7EB5-A795-AC12745F7D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3C649-4457-4C0A-9491-08AC94D3CA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578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C3BCED-D799-C577-A48C-17B9FA977B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04" b="89216" l="9184" r="97959">
                        <a14:foregroundMark x1="14486" y1="69551" x2="23469" y2="18627"/>
                        <a14:foregroundMark x1="23469" y1="18627" x2="75510" y2="13725"/>
                        <a14:foregroundMark x1="75510" y1="13725" x2="82653" y2="81373"/>
                        <a14:foregroundMark x1="82653" y1="81373" x2="49698" y2="79841"/>
                        <a14:foregroundMark x1="70408" y1="17647" x2="91837" y2="65686"/>
                        <a14:foregroundMark x1="91837" y1="65686" x2="80612" y2="23529"/>
                        <a14:foregroundMark x1="80612" y1="23529" x2="96939" y2="67647"/>
                        <a14:foregroundMark x1="50584" y1="80427" x2="77551" y2="84314"/>
                        <a14:foregroundMark x1="77551" y1="84314" x2="84694" y2="82353"/>
                        <a14:foregroundMark x1="84694" y1="82353" x2="47634" y2="85855"/>
                        <a14:foregroundMark x1="71429" y1="85294" x2="12245" y2="67647"/>
                        <a14:foregroundMark x1="12245" y1="67647" x2="13265" y2="26471"/>
                        <a14:foregroundMark x1="73469" y1="20588" x2="97959" y2="56863"/>
                        <a14:foregroundMark x1="74490" y1="88235" x2="14286" y2="77451"/>
                        <a14:foregroundMark x1="14286" y1="77451" x2="11224" y2="68627"/>
                        <a14:foregroundMark x1="19388" y1="82353" x2="21429" y2="88235"/>
                        <a14:backgroundMark x1="96939" y1="73529" x2="97364" y2="57192"/>
                        <a14:backgroundMark x1="10204" y1="73529" x2="13096" y2="7544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79" y="171450"/>
            <a:ext cx="933450" cy="971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B20CC4-1D63-D2A4-5C64-753F3010BD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FilmGrain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8CAA4F9-35F7-F59C-7F66-196DFCA9F67F}"/>
              </a:ext>
            </a:extLst>
          </p:cNvPr>
          <p:cNvSpPr txBox="1">
            <a:spLocks/>
          </p:cNvSpPr>
          <p:nvPr/>
        </p:nvSpPr>
        <p:spPr>
          <a:xfrm>
            <a:off x="915904" y="657225"/>
            <a:ext cx="5702968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Bahnschrift Condensed" panose="020B0502040204020203" pitchFamily="34" charset="0"/>
              </a:rPr>
              <a:t>SMART TRAFFIC LIGHT</a:t>
            </a:r>
          </a:p>
          <a:p>
            <a:r>
              <a:rPr lang="en-US" b="1" dirty="0">
                <a:latin typeface="Bahnschrift Condensed" panose="020B0502040204020203" pitchFamily="34" charset="0"/>
              </a:rPr>
              <a:t>SIMULATOR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19A31D7-AC99-F5A9-16A2-7FBCF0CA52E7}"/>
              </a:ext>
            </a:extLst>
          </p:cNvPr>
          <p:cNvSpPr txBox="1">
            <a:spLocks/>
          </p:cNvSpPr>
          <p:nvPr/>
        </p:nvSpPr>
        <p:spPr>
          <a:xfrm>
            <a:off x="449179" y="2638425"/>
            <a:ext cx="7307179" cy="3708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latin typeface="+mj-lt"/>
              </a:rPr>
              <a:t>II CSE</a:t>
            </a:r>
          </a:p>
          <a:p>
            <a:r>
              <a:rPr lang="en-US" sz="3600" dirty="0">
                <a:latin typeface="+mj-lt"/>
              </a:rPr>
              <a:t>SANJAI SRI SARAN.S-711624CS150</a:t>
            </a:r>
          </a:p>
          <a:p>
            <a:r>
              <a:rPr lang="en-US" sz="3600" dirty="0">
                <a:latin typeface="+mj-lt"/>
              </a:rPr>
              <a:t>BALAMURUGAN.K-711624CS107</a:t>
            </a:r>
          </a:p>
          <a:p>
            <a:r>
              <a:rPr lang="en-US" sz="3600" dirty="0">
                <a:latin typeface="+mj-lt"/>
              </a:rPr>
              <a:t>NIKHILSURESH.S-711624CS137</a:t>
            </a:r>
          </a:p>
          <a:p>
            <a:r>
              <a:rPr lang="en-US" sz="3600" dirty="0">
                <a:latin typeface="+mj-lt"/>
              </a:rPr>
              <a:t>KARUNAGARAN.S-711624CS127</a:t>
            </a:r>
          </a:p>
        </p:txBody>
      </p:sp>
    </p:spTree>
    <p:extLst>
      <p:ext uri="{BB962C8B-B14F-4D97-AF65-F5344CB8AC3E}">
        <p14:creationId xmlns:p14="http://schemas.microsoft.com/office/powerpoint/2010/main" val="2581493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B79845-26F2-2611-A1DD-07E39713F3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04" b="89216" l="9184" r="97959">
                        <a14:foregroundMark x1="14486" y1="69551" x2="23469" y2="18627"/>
                        <a14:foregroundMark x1="23469" y1="18627" x2="75510" y2="13725"/>
                        <a14:foregroundMark x1="75510" y1="13725" x2="82653" y2="81373"/>
                        <a14:foregroundMark x1="82653" y1="81373" x2="49698" y2="79841"/>
                        <a14:foregroundMark x1="70408" y1="17647" x2="91837" y2="65686"/>
                        <a14:foregroundMark x1="91837" y1="65686" x2="80612" y2="23529"/>
                        <a14:foregroundMark x1="80612" y1="23529" x2="96939" y2="67647"/>
                        <a14:foregroundMark x1="50584" y1="80427" x2="77551" y2="84314"/>
                        <a14:foregroundMark x1="77551" y1="84314" x2="84694" y2="82353"/>
                        <a14:foregroundMark x1="84694" y1="82353" x2="47634" y2="85855"/>
                        <a14:foregroundMark x1="71429" y1="85294" x2="12245" y2="67647"/>
                        <a14:foregroundMark x1="12245" y1="67647" x2="13265" y2="26471"/>
                        <a14:foregroundMark x1="73469" y1="20588" x2="97959" y2="56863"/>
                        <a14:foregroundMark x1="74490" y1="88235" x2="14286" y2="77451"/>
                        <a14:foregroundMark x1="14286" y1="77451" x2="11224" y2="68627"/>
                        <a14:foregroundMark x1="19388" y1="82353" x2="21429" y2="88235"/>
                        <a14:backgroundMark x1="96939" y1="73529" x2="97364" y2="57192"/>
                        <a14:backgroundMark x1="10204" y1="73529" x2="13096" y2="7544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79" y="171450"/>
            <a:ext cx="933450" cy="97155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F50F2C5-378F-CA8E-BD7F-910208F1A735}"/>
              </a:ext>
            </a:extLst>
          </p:cNvPr>
          <p:cNvSpPr txBox="1">
            <a:spLocks/>
          </p:cNvSpPr>
          <p:nvPr/>
        </p:nvSpPr>
        <p:spPr>
          <a:xfrm>
            <a:off x="1981199" y="238627"/>
            <a:ext cx="8229600" cy="1143000"/>
          </a:xfrm>
          <a:prstGeom prst="rect">
            <a:avLst/>
          </a:prstGeom>
          <a:ln w="762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Century Gothic" panose="020B0502020202020204" pitchFamily="34" charset="0"/>
              </a:rPr>
              <a:t>OUTLINE OF PRESENTATION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C6AFFA5-B845-4FEF-BF25-59631FC40372}"/>
              </a:ext>
            </a:extLst>
          </p:cNvPr>
          <p:cNvSpPr txBox="1">
            <a:spLocks/>
          </p:cNvSpPr>
          <p:nvPr/>
        </p:nvSpPr>
        <p:spPr>
          <a:xfrm>
            <a:off x="3811001" y="1951121"/>
            <a:ext cx="4569995" cy="377591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600" dirty="0">
                <a:latin typeface="Century Gothic" panose="020B0502020202020204" pitchFamily="34" charset="0"/>
              </a:rPr>
              <a:t>Introduction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600" dirty="0">
                <a:latin typeface="Century Gothic" panose="020B0502020202020204" pitchFamily="34" charset="0"/>
              </a:rPr>
              <a:t>Concept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600" dirty="0">
                <a:latin typeface="Century Gothic" panose="020B0502020202020204" pitchFamily="34" charset="0"/>
              </a:rPr>
              <a:t>Problem statement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600" dirty="0">
                <a:latin typeface="Century Gothic" panose="020B0502020202020204" pitchFamily="34" charset="0"/>
              </a:rPr>
              <a:t>Flow diagram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600" dirty="0">
                <a:latin typeface="Century Gothic" panose="020B0502020202020204" pitchFamily="34" charset="0"/>
              </a:rPr>
              <a:t>Methodology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600" dirty="0">
                <a:latin typeface="Century Gothic" panose="020B0502020202020204" pitchFamily="34" charset="0"/>
              </a:rPr>
              <a:t>Data Set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600" dirty="0">
                <a:latin typeface="Century Gothic" panose="020B0502020202020204" pitchFamily="34" charset="0"/>
              </a:rPr>
              <a:t>Conclusion </a:t>
            </a:r>
          </a:p>
        </p:txBody>
      </p:sp>
    </p:spTree>
    <p:extLst>
      <p:ext uri="{BB962C8B-B14F-4D97-AF65-F5344CB8AC3E}">
        <p14:creationId xmlns:p14="http://schemas.microsoft.com/office/powerpoint/2010/main" val="3667702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E9D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91ED57-2F3F-0A08-CAC5-8E8E415B6E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04" b="89216" l="9184" r="97959">
                        <a14:foregroundMark x1="14486" y1="69551" x2="23469" y2="18627"/>
                        <a14:foregroundMark x1="23469" y1="18627" x2="75510" y2="13725"/>
                        <a14:foregroundMark x1="75510" y1="13725" x2="82653" y2="81373"/>
                        <a14:foregroundMark x1="82653" y1="81373" x2="49698" y2="79841"/>
                        <a14:foregroundMark x1="70408" y1="17647" x2="91837" y2="65686"/>
                        <a14:foregroundMark x1="91837" y1="65686" x2="80612" y2="23529"/>
                        <a14:foregroundMark x1="80612" y1="23529" x2="96939" y2="67647"/>
                        <a14:foregroundMark x1="50584" y1="80427" x2="77551" y2="84314"/>
                        <a14:foregroundMark x1="77551" y1="84314" x2="84694" y2="82353"/>
                        <a14:foregroundMark x1="84694" y1="82353" x2="47634" y2="85855"/>
                        <a14:foregroundMark x1="71429" y1="85294" x2="12245" y2="67647"/>
                        <a14:foregroundMark x1="12245" y1="67647" x2="13265" y2="26471"/>
                        <a14:foregroundMark x1="73469" y1="20588" x2="97959" y2="56863"/>
                        <a14:foregroundMark x1="74490" y1="88235" x2="14286" y2="77451"/>
                        <a14:foregroundMark x1="14286" y1="77451" x2="11224" y2="68627"/>
                        <a14:foregroundMark x1="19388" y1="82353" x2="21429" y2="88235"/>
                        <a14:backgroundMark x1="96939" y1="73529" x2="97364" y2="57192"/>
                        <a14:backgroundMark x1="10204" y1="73529" x2="13096" y2="7544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33450" cy="971550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8F9DCBB3-F8AE-2430-A5AC-3B0EBFDBB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841" y="817661"/>
            <a:ext cx="7794959" cy="5816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The Problem: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Urban traffic congestion, fueled by static, timer-based signals, causes unnecessary delays, safety hazards, and increased CO₂ emissions from idling vehicles.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The Solution: Smart traffic light simulator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An adaptive traffic control system that replaces rigid cycles with intelligent, real-time decision-making to optimize flow and prioritize safety.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How It Works: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Condense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Inputs: Continuously monitors simulated vehicle traffic, pedestrian requests, and emergency signals.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AI Brain: Uses a dynamic state-machine model to make instant decisions based on a strict safety hierarchy.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Outputs: Controls traffic lights &amp; pedestrian signals to reduce wait times, grant emergency priority, and enable safe crossings.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Key Value: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Condense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Efficiency: Reduces average wait times and idling.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Safety: Integrates pedestrian &amp; emergency vehicle priorities.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Sustainability: Lowers fuel consumption and CO₂ emissions.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20C338-DB4C-8A0A-26E8-1F9F76ABF9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0"/>
            <a:ext cx="42672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5E49D0A-9C17-7CA2-127E-E4BD42C917F2}"/>
              </a:ext>
            </a:extLst>
          </p:cNvPr>
          <p:cNvSpPr txBox="1"/>
          <p:nvPr/>
        </p:nvSpPr>
        <p:spPr>
          <a:xfrm>
            <a:off x="2149644" y="131832"/>
            <a:ext cx="25988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>
                <a:latin typeface="Bahnschrift Condensed" panose="020B0502040204020203" pitchFamily="34" charset="0"/>
              </a:rPr>
              <a:t>INTRODUCTION</a:t>
            </a:r>
            <a:endParaRPr lang="en-IN" sz="4000" b="1" u="sng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10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3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5D2619-5702-BB84-BA54-701C78A0A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04" b="89216" l="9184" r="97959">
                        <a14:foregroundMark x1="14486" y1="69551" x2="23469" y2="18627"/>
                        <a14:foregroundMark x1="23469" y1="18627" x2="75510" y2="13725"/>
                        <a14:foregroundMark x1="75510" y1="13725" x2="82653" y2="81373"/>
                        <a14:foregroundMark x1="82653" y1="81373" x2="49698" y2="79841"/>
                        <a14:foregroundMark x1="70408" y1="17647" x2="91837" y2="65686"/>
                        <a14:foregroundMark x1="91837" y1="65686" x2="80612" y2="23529"/>
                        <a14:foregroundMark x1="80612" y1="23529" x2="96939" y2="67647"/>
                        <a14:foregroundMark x1="50584" y1="80427" x2="77551" y2="84314"/>
                        <a14:foregroundMark x1="77551" y1="84314" x2="84694" y2="82353"/>
                        <a14:foregroundMark x1="84694" y1="82353" x2="47634" y2="85855"/>
                        <a14:foregroundMark x1="71429" y1="85294" x2="12245" y2="67647"/>
                        <a14:foregroundMark x1="12245" y1="67647" x2="13265" y2="26471"/>
                        <a14:foregroundMark x1="73469" y1="20588" x2="97959" y2="56863"/>
                        <a14:foregroundMark x1="74490" y1="88235" x2="14286" y2="77451"/>
                        <a14:foregroundMark x1="14286" y1="77451" x2="11224" y2="68627"/>
                        <a14:foregroundMark x1="19388" y1="82353" x2="21429" y2="88235"/>
                        <a14:backgroundMark x1="96939" y1="73529" x2="97364" y2="57192"/>
                        <a14:backgroundMark x1="10204" y1="73529" x2="13096" y2="7544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33450" cy="971550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0EE08481-4617-2622-5BD5-425194396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107" y="794129"/>
            <a:ext cx="7840918" cy="5755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 Condensed" panose="020B0502040204020203" pitchFamily="34" charset="0"/>
              </a:rPr>
              <a:t>Background Summary &amp; Core Concept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chemeClr val="bg1"/>
                </a:solidFill>
                <a:latin typeface="+mj-lt"/>
              </a:rPr>
              <a:t>Smart traffic light simulator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is an intelligent traffic management system designed to optimize urban mobility through adaptive signal control. It addresses key urban challenges: congestion, pedestrian safety, and emergency vehicle priority.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solidFill>
                <a:schemeClr val="bg1"/>
              </a:solidFill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 Condensed" panose="020B0502040204020203" pitchFamily="34" charset="0"/>
              </a:rPr>
              <a:t>Core Design Concept: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A dual-intersection AI controller that dynamically manages traffic flow in real-time. The system features: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sym typeface="Wingdings" panose="05000000000000000000" pitchFamily="2" charset="2"/>
              </a:rPr>
              <a:t>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Adaptive Cycle Timing: AI-driven signals that adjust phase length based on real-time traffic density,  reducing idle time and emissions.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sym typeface="Wingdings" panose="05000000000000000000" pitchFamily="2" charset="2"/>
              </a:rPr>
              <a:t>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Integrated Multi-Modal Safety: Dedicated cyclist signals and pedestrian crosswalks with countdown timers 	and on-demand activation.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sym typeface="Wingdings" panose="05000000000000000000" pitchFamily="2" charset="2"/>
              </a:rPr>
              <a:t>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Emergency Priority Protocol: Direct green-wave access for emergency vehicles, clearing paths  automatically to reduce response times.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sym typeface="Wingdings" panose="05000000000000000000" pitchFamily="2" charset="2"/>
              </a:rPr>
              <a:t>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Eco-Efficiency Mode: Night mode reduces energy use with blinking amber signals while maintaining safety,  tracking CO₂ savings from reduced idling.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68FCAAC-5A68-BDAB-4352-93C3BC990A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025" y="0"/>
            <a:ext cx="4572000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B58E03F-3AAB-B884-F2FD-3D4101B07A0E}"/>
              </a:ext>
            </a:extLst>
          </p:cNvPr>
          <p:cNvSpPr txBox="1"/>
          <p:nvPr/>
        </p:nvSpPr>
        <p:spPr>
          <a:xfrm>
            <a:off x="2781184" y="86243"/>
            <a:ext cx="17585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>
                <a:solidFill>
                  <a:schemeClr val="bg1"/>
                </a:solidFill>
                <a:latin typeface="Bahnschrift Condensed" panose="020B0502040204020203" pitchFamily="34" charset="0"/>
              </a:rPr>
              <a:t>CONCEPT</a:t>
            </a:r>
            <a:endParaRPr lang="en-IN" sz="4000" b="1" u="sng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2920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48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5D2619-5702-BB84-BA54-701C78A0A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04" b="89216" l="9184" r="97959">
                        <a14:foregroundMark x1="14486" y1="69551" x2="23469" y2="18627"/>
                        <a14:foregroundMark x1="23469" y1="18627" x2="75510" y2="13725"/>
                        <a14:foregroundMark x1="75510" y1="13725" x2="82653" y2="81373"/>
                        <a14:foregroundMark x1="82653" y1="81373" x2="49698" y2="79841"/>
                        <a14:foregroundMark x1="70408" y1="17647" x2="91837" y2="65686"/>
                        <a14:foregroundMark x1="91837" y1="65686" x2="80612" y2="23529"/>
                        <a14:foregroundMark x1="80612" y1="23529" x2="96939" y2="67647"/>
                        <a14:foregroundMark x1="50584" y1="80427" x2="77551" y2="84314"/>
                        <a14:foregroundMark x1="77551" y1="84314" x2="84694" y2="82353"/>
                        <a14:foregroundMark x1="84694" y1="82353" x2="47634" y2="85855"/>
                        <a14:foregroundMark x1="71429" y1="85294" x2="12245" y2="67647"/>
                        <a14:foregroundMark x1="12245" y1="67647" x2="13265" y2="26471"/>
                        <a14:foregroundMark x1="73469" y1="20588" x2="97959" y2="56863"/>
                        <a14:foregroundMark x1="74490" y1="88235" x2="14286" y2="77451"/>
                        <a14:foregroundMark x1="14286" y1="77451" x2="11224" y2="68627"/>
                        <a14:foregroundMark x1="19388" y1="82353" x2="21429" y2="88235"/>
                        <a14:backgroundMark x1="96939" y1="73529" x2="97364" y2="57192"/>
                        <a14:backgroundMark x1="10204" y1="73529" x2="13096" y2="7544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33450" cy="9715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E7AE28E-9933-1716-8EC2-64D650C04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108" y="917912"/>
            <a:ext cx="8116220" cy="594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 Condensed" panose="020B0502040204020203" pitchFamily="34" charset="0"/>
              </a:rPr>
              <a:t>The Core Challenge:</a:t>
            </a:r>
            <a:b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Traditional traffic signal systems operate on fixed, pre-programmed timers. This rigid approach fails to adapt to real-time conditions, leading to a cascade of critical urban inefficiencies: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Congestion &amp; Economic Cost: Vehicles idle unnecessarily at red lights during low-traffic periods, wasting fuel, increasing travel times, and hampering productivity.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Safety Risks: Static systems lack responsiveness. Pedestrians face long, unnecessary wait times, encouraging risky crossings. Emergency vehicles are delayed by red lights, impacting critical response times.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Environmental Impact: Persistent stop-and-go traffic and prolonged idling significantly increase vehicle emissions, contributing to urban air pollution and higher carbon footprints.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Lack of Multi-Modal Integration: Standard systems are designed primarily for cars, often neglecting the safe and efficient integration of cyclists and pedestrians into the traffic flow.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chemeClr val="bg1"/>
                </a:solidFill>
                <a:latin typeface="+mj-lt"/>
              </a:rPr>
              <a:t>Smart traffic light simulator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proposes a shift from a static, timer-based model to a dynamic, intelligent, and data-driven approach to urban traffic management.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95BB36-7C4B-BFA6-13FE-CF3D6E604B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1328" y="0"/>
            <a:ext cx="377067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969843-C441-49E5-FD67-A98AE4CD5623}"/>
              </a:ext>
            </a:extLst>
          </p:cNvPr>
          <p:cNvSpPr txBox="1"/>
          <p:nvPr/>
        </p:nvSpPr>
        <p:spPr>
          <a:xfrm>
            <a:off x="2239297" y="263664"/>
            <a:ext cx="42478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>
                <a:solidFill>
                  <a:schemeClr val="bg1"/>
                </a:solidFill>
                <a:latin typeface="Bahnschrift Condensed" panose="020B0502040204020203" pitchFamily="34" charset="0"/>
              </a:rPr>
              <a:t>PROBLEM STATEMENT</a:t>
            </a:r>
            <a:endParaRPr lang="en-IN" sz="4000" b="1" u="sng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687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6E7D191-0C8E-B40B-40B9-A675289EF3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20000" contrast="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6779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5D2619-5702-BB84-BA54-701C78A0AF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04" b="89216" l="9184" r="97959">
                        <a14:foregroundMark x1="14486" y1="69551" x2="23469" y2="18627"/>
                        <a14:foregroundMark x1="23469" y1="18627" x2="75510" y2="13725"/>
                        <a14:foregroundMark x1="75510" y1="13725" x2="82653" y2="81373"/>
                        <a14:foregroundMark x1="82653" y1="81373" x2="49698" y2="79841"/>
                        <a14:foregroundMark x1="70408" y1="17647" x2="91837" y2="65686"/>
                        <a14:foregroundMark x1="91837" y1="65686" x2="80612" y2="23529"/>
                        <a14:foregroundMark x1="80612" y1="23529" x2="96939" y2="67647"/>
                        <a14:foregroundMark x1="50584" y1="80427" x2="77551" y2="84314"/>
                        <a14:foregroundMark x1="77551" y1="84314" x2="84694" y2="82353"/>
                        <a14:foregroundMark x1="84694" y1="82353" x2="47634" y2="85855"/>
                        <a14:foregroundMark x1="71429" y1="85294" x2="12245" y2="67647"/>
                        <a14:foregroundMark x1="12245" y1="67647" x2="13265" y2="26471"/>
                        <a14:foregroundMark x1="73469" y1="20588" x2="97959" y2="56863"/>
                        <a14:foregroundMark x1="74490" y1="88235" x2="14286" y2="77451"/>
                        <a14:foregroundMark x1="14286" y1="77451" x2="11224" y2="68627"/>
                        <a14:foregroundMark x1="19388" y1="82353" x2="21429" y2="88235"/>
                        <a14:backgroundMark x1="96939" y1="73529" x2="97364" y2="57192"/>
                        <a14:backgroundMark x1="10204" y1="73529" x2="13096" y2="7544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33450" cy="9715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A869978-6CF6-E41B-3D62-9DBABBD03A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4909" y="925295"/>
            <a:ext cx="3682181" cy="552327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B4FA7A-F01A-0E37-C8FF-12DB43E27134}"/>
              </a:ext>
            </a:extLst>
          </p:cNvPr>
          <p:cNvSpPr txBox="1"/>
          <p:nvPr/>
        </p:nvSpPr>
        <p:spPr>
          <a:xfrm>
            <a:off x="4740440" y="0"/>
            <a:ext cx="27111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>
                <a:solidFill>
                  <a:schemeClr val="bg1"/>
                </a:solidFill>
                <a:latin typeface="Bahnschrift Condensed" panose="020B0502040204020203" pitchFamily="34" charset="0"/>
              </a:rPr>
              <a:t>FLOW DIAGRAM</a:t>
            </a:r>
            <a:endParaRPr lang="en-IN" sz="4000" b="1" u="sng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1679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5D2619-5702-BB84-BA54-701C78A0A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04" b="89216" l="9184" r="97959">
                        <a14:foregroundMark x1="14486" y1="69551" x2="23469" y2="18627"/>
                        <a14:foregroundMark x1="23469" y1="18627" x2="75510" y2="13725"/>
                        <a14:foregroundMark x1="75510" y1="13725" x2="82653" y2="81373"/>
                        <a14:foregroundMark x1="82653" y1="81373" x2="49698" y2="79841"/>
                        <a14:foregroundMark x1="70408" y1="17647" x2="91837" y2="65686"/>
                        <a14:foregroundMark x1="91837" y1="65686" x2="80612" y2="23529"/>
                        <a14:foregroundMark x1="80612" y1="23529" x2="96939" y2="67647"/>
                        <a14:foregroundMark x1="50584" y1="80427" x2="77551" y2="84314"/>
                        <a14:foregroundMark x1="77551" y1="84314" x2="84694" y2="82353"/>
                        <a14:foregroundMark x1="84694" y1="82353" x2="47634" y2="85855"/>
                        <a14:foregroundMark x1="71429" y1="85294" x2="12245" y2="67647"/>
                        <a14:foregroundMark x1="12245" y1="67647" x2="13265" y2="26471"/>
                        <a14:foregroundMark x1="73469" y1="20588" x2="97959" y2="56863"/>
                        <a14:foregroundMark x1="74490" y1="88235" x2="14286" y2="77451"/>
                        <a14:foregroundMark x1="14286" y1="77451" x2="11224" y2="68627"/>
                        <a14:foregroundMark x1="19388" y1="82353" x2="21429" y2="88235"/>
                        <a14:backgroundMark x1="96939" y1="73529" x2="97364" y2="57192"/>
                        <a14:backgroundMark x1="10204" y1="73529" x2="13096" y2="7544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33450" cy="97155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2007AD7-11B2-7CA0-BF63-AB5F0D010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1813173"/>
            <a:ext cx="6848475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 Condensed" panose="020B0502040204020203" pitchFamily="34" charset="0"/>
              </a:rPr>
              <a:t>Chosen Procedure: Adaptive &amp; Event-Driven Control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We selected a State Machine Model managed by a central AI controller. This is not a fixed timer loop; it's a dynamic system that responds to real-time inputs and priority events.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Core Principle: The traffic state (e.g., "NS Green", "EW Yellow", "Pedestrian Cross") changes based on sensor data and triggered events, not a pre-set clock.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Why This Was Chosen: It perfectly mirrors the unpredictable, event-driven nature of urban traffic, allowing for both efficient routine flow and critical interrupt handling.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31141C-BF66-265B-2F43-DBE485508D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6086D4-529C-0795-2C8F-B4026E3807B3}"/>
              </a:ext>
            </a:extLst>
          </p:cNvPr>
          <p:cNvSpPr txBox="1"/>
          <p:nvPr/>
        </p:nvSpPr>
        <p:spPr>
          <a:xfrm>
            <a:off x="466725" y="1038418"/>
            <a:ext cx="25988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>
                <a:solidFill>
                  <a:schemeClr val="bg1"/>
                </a:solidFill>
                <a:latin typeface="Bahnschrift Condensed" panose="020B0502040204020203" pitchFamily="34" charset="0"/>
              </a:rPr>
              <a:t>METHODOLOGY</a:t>
            </a:r>
            <a:endParaRPr lang="en-IN" sz="4000" b="1" u="sng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899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8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5D2619-5702-BB84-BA54-701C78A0A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04" b="89216" l="9184" r="97959">
                        <a14:foregroundMark x1="14486" y1="69551" x2="23469" y2="18627"/>
                        <a14:foregroundMark x1="23469" y1="18627" x2="75510" y2="13725"/>
                        <a14:foregroundMark x1="75510" y1="13725" x2="82653" y2="81373"/>
                        <a14:foregroundMark x1="82653" y1="81373" x2="49698" y2="79841"/>
                        <a14:foregroundMark x1="70408" y1="17647" x2="91837" y2="65686"/>
                        <a14:foregroundMark x1="91837" y1="65686" x2="80612" y2="23529"/>
                        <a14:foregroundMark x1="80612" y1="23529" x2="96939" y2="67647"/>
                        <a14:foregroundMark x1="50584" y1="80427" x2="77551" y2="84314"/>
                        <a14:foregroundMark x1="77551" y1="84314" x2="84694" y2="82353"/>
                        <a14:foregroundMark x1="84694" y1="82353" x2="47634" y2="85855"/>
                        <a14:foregroundMark x1="71429" y1="85294" x2="12245" y2="67647"/>
                        <a14:foregroundMark x1="12245" y1="67647" x2="13265" y2="26471"/>
                        <a14:foregroundMark x1="73469" y1="20588" x2="97959" y2="56863"/>
                        <a14:foregroundMark x1="74490" y1="88235" x2="14286" y2="77451"/>
                        <a14:foregroundMark x1="14286" y1="77451" x2="11224" y2="68627"/>
                        <a14:foregroundMark x1="19388" y1="82353" x2="21429" y2="88235"/>
                        <a14:backgroundMark x1="96939" y1="73529" x2="97364" y2="57192"/>
                        <a14:backgroundMark x1="10204" y1="73529" x2="13096" y2="7544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33450" cy="971550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A06BE7FA-8C0F-B545-5A6C-C48383EE4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124" y="856357"/>
            <a:ext cx="7577160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System Architecture &amp; Workflow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Condense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A simple, intelligent pipeline that turns data into action.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INPUTS (Senses)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Traffic Density: Virtual car queue sensors.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Pedestrian Button: Manual crosswalk request.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Emergency Beacon: Signal from nearby ambulances/fire trucks.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System Clock: Automatic day/night mode switching.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PROCESSING (AI Brain)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Listens Constantly: Always checking all inputs.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Makes Smart Choices: Uses a strict priority list: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EMERGENCY: Overrides everything.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PEDESTRIANS: Safe, integrated crossing.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ADAPTIVE TIMING: Adjusts green lights for traffic flow.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NIGHT MODE: Energy-saving blinking yellow.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Ensures Safety: Never allows conflicting green lights.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OUTPUTS (Actions)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Controls traffic lights (Red, Yellow, Green, Bike).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Controls pedestrian walk signals.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Tracks and displays efficiency data (CO₂ saved).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700477-D7DF-5F05-CA6D-4548C2C9AB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3958" y="0"/>
            <a:ext cx="4588042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AA8E61-34AF-AF44-2620-411098958D55}"/>
              </a:ext>
            </a:extLst>
          </p:cNvPr>
          <p:cNvSpPr txBox="1"/>
          <p:nvPr/>
        </p:nvSpPr>
        <p:spPr>
          <a:xfrm>
            <a:off x="1989223" y="263664"/>
            <a:ext cx="25988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>
                <a:latin typeface="Bahnschrift Condensed" panose="020B0502040204020203" pitchFamily="34" charset="0"/>
              </a:rPr>
              <a:t>METHODOLOGY</a:t>
            </a:r>
            <a:endParaRPr lang="en-IN" sz="4000" b="1" u="sng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181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54000">
              <a:srgbClr val="68E9E9"/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5D2619-5702-BB84-BA54-701C78A0A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04" b="89216" l="9184" r="97959">
                        <a14:foregroundMark x1="14486" y1="69551" x2="23469" y2="18627"/>
                        <a14:foregroundMark x1="23469" y1="18627" x2="75510" y2="13725"/>
                        <a14:foregroundMark x1="75510" y1="13725" x2="82653" y2="81373"/>
                        <a14:foregroundMark x1="82653" y1="81373" x2="49698" y2="79841"/>
                        <a14:foregroundMark x1="70408" y1="17647" x2="91837" y2="65686"/>
                        <a14:foregroundMark x1="91837" y1="65686" x2="80612" y2="23529"/>
                        <a14:foregroundMark x1="80612" y1="23529" x2="96939" y2="67647"/>
                        <a14:foregroundMark x1="50584" y1="80427" x2="77551" y2="84314"/>
                        <a14:foregroundMark x1="77551" y1="84314" x2="84694" y2="82353"/>
                        <a14:foregroundMark x1="84694" y1="82353" x2="47634" y2="85855"/>
                        <a14:foregroundMark x1="71429" y1="85294" x2="12245" y2="67647"/>
                        <a14:foregroundMark x1="12245" y1="67647" x2="13265" y2="26471"/>
                        <a14:foregroundMark x1="73469" y1="20588" x2="97959" y2="56863"/>
                        <a14:foregroundMark x1="74490" y1="88235" x2="14286" y2="77451"/>
                        <a14:foregroundMark x1="14286" y1="77451" x2="11224" y2="68627"/>
                        <a14:foregroundMark x1="19388" y1="82353" x2="21429" y2="88235"/>
                        <a14:backgroundMark x1="96939" y1="73529" x2="97364" y2="57192"/>
                        <a14:backgroundMark x1="10204" y1="73529" x2="13096" y2="7544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33450" cy="97155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C434A5D-7F50-5CE9-A81A-F67D2ACD3E24}"/>
              </a:ext>
            </a:extLst>
          </p:cNvPr>
          <p:cNvSpPr txBox="1"/>
          <p:nvPr/>
        </p:nvSpPr>
        <p:spPr>
          <a:xfrm>
            <a:off x="933450" y="485775"/>
            <a:ext cx="5805739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 err="1">
                <a:latin typeface="Bahnschrift Condensed" panose="020B0502040204020203" pitchFamily="34" charset="0"/>
              </a:rPr>
              <a:t>CityFlow</a:t>
            </a:r>
            <a:r>
              <a:rPr lang="en-IN" sz="2400" dirty="0">
                <a:latin typeface="Bahnschrift Condensed" panose="020B0502040204020203" pitchFamily="34" charset="0"/>
              </a:rPr>
              <a:t> AI – Smart Dual Signals</a:t>
            </a:r>
          </a:p>
          <a:p>
            <a:endParaRPr lang="en-IN" dirty="0"/>
          </a:p>
          <a:p>
            <a:r>
              <a:rPr lang="en-IN" dirty="0" err="1">
                <a:latin typeface="+mj-lt"/>
              </a:rPr>
              <a:t>Purpose:Simulate</a:t>
            </a:r>
            <a:r>
              <a:rPr lang="en-IN" dirty="0">
                <a:latin typeface="+mj-lt"/>
              </a:rPr>
              <a:t> &amp; manage traffic signals for North-South (A) and West-East (B) directions, including pedestrian and emergency control.</a:t>
            </a:r>
          </a:p>
          <a:p>
            <a:r>
              <a:rPr lang="en-IN" dirty="0">
                <a:latin typeface="+mj-lt"/>
              </a:rPr>
              <a:t>Modes: Normal, Night (blinking yellow), Pedestrian, Emergency.</a:t>
            </a:r>
            <a:br>
              <a:rPr lang="en-IN" dirty="0">
                <a:latin typeface="+mj-lt"/>
              </a:rPr>
            </a:br>
            <a:br>
              <a:rPr lang="en-IN" dirty="0">
                <a:latin typeface="+mj-lt"/>
              </a:rPr>
            </a:br>
            <a:r>
              <a:rPr lang="en-IN" dirty="0">
                <a:latin typeface="Bahnschrift Condensed" panose="020B0502040204020203" pitchFamily="34" charset="0"/>
              </a:rPr>
              <a:t>Controls</a:t>
            </a:r>
          </a:p>
          <a:p>
            <a:r>
              <a:rPr lang="en-IN" dirty="0">
                <a:latin typeface="+mj-lt"/>
              </a:rPr>
              <a:t>▶ Start: Begin simulation</a:t>
            </a:r>
          </a:p>
          <a:p>
            <a:r>
              <a:rPr lang="en-IN" dirty="0">
                <a:latin typeface="+mj-lt"/>
              </a:rPr>
              <a:t>⏹ Stop: Stop simulation</a:t>
            </a:r>
          </a:p>
          <a:p>
            <a:r>
              <a:rPr lang="en-IN" dirty="0">
                <a:latin typeface="+mj-lt"/>
              </a:rPr>
              <a:t>⏭ Next: Skip phase</a:t>
            </a:r>
          </a:p>
          <a:p>
            <a:r>
              <a:rPr lang="en-IN" dirty="0">
                <a:latin typeface="+mj-lt"/>
              </a:rPr>
              <a:t>🚸 Ped: Activate pedestrian crossing</a:t>
            </a:r>
          </a:p>
          <a:p>
            <a:r>
              <a:rPr lang="en-IN" dirty="0">
                <a:latin typeface="+mj-lt"/>
              </a:rPr>
              <a:t>🚑 A / B: Emergency mode for side A or B</a:t>
            </a:r>
          </a:p>
          <a:p>
            <a:r>
              <a:rPr lang="en-IN" dirty="0">
                <a:latin typeface="+mj-lt"/>
              </a:rPr>
              <a:t>🌙 Night: Activate night mode</a:t>
            </a:r>
          </a:p>
          <a:p>
            <a:r>
              <a:rPr lang="en-IN" dirty="0">
                <a:latin typeface="+mj-lt"/>
              </a:rPr>
              <a:t>♻ Reset: Reset simulation</a:t>
            </a:r>
          </a:p>
          <a:p>
            <a:endParaRPr lang="en-IN" dirty="0">
              <a:latin typeface="+mj-lt"/>
            </a:endParaRPr>
          </a:p>
          <a:p>
            <a:r>
              <a:rPr lang="en-IN" dirty="0">
                <a:latin typeface="Bahnschrift Condensed" panose="020B0502040204020203" pitchFamily="34" charset="0"/>
              </a:rPr>
              <a:t>Traffic Timing (Green Light Duration)</a:t>
            </a:r>
          </a:p>
          <a:p>
            <a:r>
              <a:rPr lang="en-IN" dirty="0">
                <a:latin typeface="+mj-lt"/>
              </a:rPr>
              <a:t>| Side | Low Traffic | Medium Traffic | High Traffic |</a:t>
            </a:r>
          </a:p>
          <a:p>
            <a:r>
              <a:rPr lang="en-IN" dirty="0">
                <a:latin typeface="+mj-lt"/>
              </a:rPr>
              <a:t>| :---    | :----------     | :-------------          | :-----------    |</a:t>
            </a:r>
          </a:p>
          <a:p>
            <a:r>
              <a:rPr lang="en-IN" dirty="0">
                <a:latin typeface="+mj-lt"/>
              </a:rPr>
              <a:t>| A    | 2000 </a:t>
            </a:r>
            <a:r>
              <a:rPr lang="en-IN" dirty="0" err="1">
                <a:latin typeface="+mj-lt"/>
              </a:rPr>
              <a:t>ms</a:t>
            </a:r>
            <a:r>
              <a:rPr lang="en-IN" dirty="0">
                <a:latin typeface="+mj-lt"/>
              </a:rPr>
              <a:t>         | 4000 </a:t>
            </a:r>
            <a:r>
              <a:rPr lang="en-IN" dirty="0" err="1">
                <a:latin typeface="+mj-lt"/>
              </a:rPr>
              <a:t>ms</a:t>
            </a:r>
            <a:r>
              <a:rPr lang="en-IN" dirty="0">
                <a:latin typeface="+mj-lt"/>
              </a:rPr>
              <a:t>               | 6000 </a:t>
            </a:r>
            <a:r>
              <a:rPr lang="en-IN" dirty="0" err="1">
                <a:latin typeface="+mj-lt"/>
              </a:rPr>
              <a:t>ms</a:t>
            </a:r>
            <a:r>
              <a:rPr lang="en-IN" dirty="0">
                <a:latin typeface="+mj-lt"/>
              </a:rPr>
              <a:t>      |</a:t>
            </a:r>
          </a:p>
          <a:p>
            <a:r>
              <a:rPr lang="en-IN" dirty="0">
                <a:latin typeface="+mj-lt"/>
              </a:rPr>
              <a:t>| B    | 2000 </a:t>
            </a:r>
            <a:r>
              <a:rPr lang="en-IN" dirty="0" err="1">
                <a:latin typeface="+mj-lt"/>
              </a:rPr>
              <a:t>ms</a:t>
            </a:r>
            <a:r>
              <a:rPr lang="en-IN" dirty="0">
                <a:latin typeface="+mj-lt"/>
              </a:rPr>
              <a:t>         | 4000 </a:t>
            </a:r>
            <a:r>
              <a:rPr lang="en-IN" dirty="0" err="1">
                <a:latin typeface="+mj-lt"/>
              </a:rPr>
              <a:t>ms</a:t>
            </a:r>
            <a:r>
              <a:rPr lang="en-IN" dirty="0">
                <a:latin typeface="+mj-lt"/>
              </a:rPr>
              <a:t>               | 6000 </a:t>
            </a:r>
            <a:r>
              <a:rPr lang="en-IN" dirty="0" err="1">
                <a:latin typeface="+mj-lt"/>
              </a:rPr>
              <a:t>ms</a:t>
            </a:r>
            <a:r>
              <a:rPr lang="en-IN" dirty="0">
                <a:latin typeface="+mj-lt"/>
              </a:rPr>
              <a:t>      |</a:t>
            </a:r>
          </a:p>
          <a:p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5C43DF-8A18-1BE1-A2EE-BD7F19BAD234}"/>
              </a:ext>
            </a:extLst>
          </p:cNvPr>
          <p:cNvSpPr txBox="1"/>
          <p:nvPr/>
        </p:nvSpPr>
        <p:spPr>
          <a:xfrm>
            <a:off x="6578767" y="1099887"/>
            <a:ext cx="561323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Bahnschrift Condensed" panose="020B0502040204020203" pitchFamily="34" charset="0"/>
              </a:rPr>
              <a:t>Signal Phases &amp; Timing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| Phase        | Duration                            | Status Message |</a:t>
            </a:r>
          </a:p>
          <a:p>
            <a:r>
              <a:rPr lang="en-IN" dirty="0">
                <a:latin typeface="+mj-lt"/>
              </a:rPr>
              <a:t>| :----------- | :-------------------------- | :-------------            |</a:t>
            </a:r>
          </a:p>
          <a:p>
            <a:r>
              <a:rPr lang="en-IN" dirty="0">
                <a:latin typeface="+mj-lt"/>
              </a:rPr>
              <a:t>| Green        | Set by Traffic Level        | A/B: GREEN        |</a:t>
            </a:r>
          </a:p>
          <a:p>
            <a:r>
              <a:rPr lang="en-IN" dirty="0">
                <a:latin typeface="+mj-lt"/>
              </a:rPr>
              <a:t>| Yellow       | 1200 </a:t>
            </a:r>
            <a:r>
              <a:rPr lang="en-IN" dirty="0" err="1">
                <a:latin typeface="+mj-lt"/>
              </a:rPr>
              <a:t>ms</a:t>
            </a:r>
            <a:r>
              <a:rPr lang="en-IN" dirty="0">
                <a:latin typeface="+mj-lt"/>
              </a:rPr>
              <a:t>                             | A/B: YELLOW      | </a:t>
            </a:r>
          </a:p>
          <a:p>
            <a:r>
              <a:rPr lang="en-IN" dirty="0">
                <a:latin typeface="+mj-lt"/>
              </a:rPr>
              <a:t>| Red             | Until opposite green     | Automatic          |</a:t>
            </a:r>
          </a:p>
          <a:p>
            <a:r>
              <a:rPr lang="en-IN" dirty="0">
                <a:latin typeface="+mj-lt"/>
              </a:rPr>
              <a:t>| Pedestrian   | 5 seconds                   | PEDESTRIAN       |</a:t>
            </a:r>
          </a:p>
          <a:p>
            <a:r>
              <a:rPr lang="en-IN" dirty="0">
                <a:latin typeface="+mj-lt"/>
              </a:rPr>
              <a:t>| Night        | Infinite (until off)        | NIGHT          |</a:t>
            </a:r>
          </a:p>
          <a:p>
            <a:r>
              <a:rPr lang="en-IN" dirty="0">
                <a:latin typeface="+mj-lt"/>
              </a:rPr>
              <a:t>| Emergency    | Infinite (until toggled off)| EMG A / EMG B  |</a:t>
            </a:r>
          </a:p>
          <a:p>
            <a:endParaRPr lang="en-IN" dirty="0">
              <a:latin typeface="+mj-lt"/>
            </a:endParaRPr>
          </a:p>
          <a:p>
            <a:r>
              <a:rPr lang="en-IN" dirty="0">
                <a:latin typeface="Bahnschrift Condensed" panose="020B0502040204020203" pitchFamily="34" charset="0"/>
              </a:rPr>
              <a:t>Signals:</a:t>
            </a:r>
          </a:p>
          <a:p>
            <a:r>
              <a:rPr lang="en-IN" dirty="0">
                <a:latin typeface="+mj-lt"/>
              </a:rPr>
              <a:t>- A (N-S): 🔴 Red, 🟡 Yellow, 🟢 Green</a:t>
            </a:r>
          </a:p>
          <a:p>
            <a:r>
              <a:rPr lang="en-IN" dirty="0">
                <a:latin typeface="+mj-lt"/>
              </a:rPr>
              <a:t>- B (W-E): 🔴 Red, 🟡 Yellow, 🟢 Green</a:t>
            </a:r>
          </a:p>
          <a:p>
            <a:r>
              <a:rPr lang="en-IN" dirty="0">
                <a:latin typeface="+mj-lt"/>
              </a:rPr>
              <a:t>- Pedestrian: 🚷 Stop, 🚶 Walk</a:t>
            </a:r>
          </a:p>
          <a:p>
            <a:endParaRPr lang="en-IN" dirty="0">
              <a:latin typeface="+mj-lt"/>
            </a:endParaRPr>
          </a:p>
          <a:p>
            <a:r>
              <a:rPr lang="en-IN" dirty="0">
                <a:latin typeface="Bahnschrift Condensed" panose="020B0502040204020203" pitchFamily="34" charset="0"/>
              </a:rPr>
              <a:t>Live Dashboard</a:t>
            </a:r>
          </a:p>
          <a:p>
            <a:r>
              <a:rPr lang="en-IN" dirty="0" err="1">
                <a:latin typeface="+mj-lt"/>
              </a:rPr>
              <a:t>Phase:IDLE</a:t>
            </a:r>
            <a:r>
              <a:rPr lang="en-IN" dirty="0">
                <a:latin typeface="+mj-lt"/>
              </a:rPr>
              <a:t> / A: GREEN</a:t>
            </a:r>
          </a:p>
          <a:p>
            <a:r>
              <a:rPr lang="en-IN" dirty="0">
                <a:latin typeface="+mj-lt"/>
              </a:rPr>
              <a:t>Time Left: 0 s / 4 s / ∞</a:t>
            </a:r>
          </a:p>
          <a:p>
            <a:r>
              <a:rPr lang="en-IN" dirty="0">
                <a:latin typeface="+mj-lt"/>
              </a:rPr>
              <a:t>CO₂:0.0 g</a:t>
            </a:r>
          </a:p>
          <a:p>
            <a:r>
              <a:rPr lang="en-IN" dirty="0">
                <a:latin typeface="+mj-lt"/>
              </a:rPr>
              <a:t>Status: Ready / Running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449609-5ECB-4470-FF44-6343C7A061A1}"/>
              </a:ext>
            </a:extLst>
          </p:cNvPr>
          <p:cNvSpPr txBox="1"/>
          <p:nvPr/>
        </p:nvSpPr>
        <p:spPr>
          <a:xfrm>
            <a:off x="4862261" y="0"/>
            <a:ext cx="17165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>
                <a:latin typeface="Bahnschrift Condensed" panose="020B0502040204020203" pitchFamily="34" charset="0"/>
              </a:rPr>
              <a:t>DATA SET</a:t>
            </a:r>
            <a:endParaRPr lang="en-IN" sz="4000" b="1" u="sng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392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5000">
              <a:schemeClr val="bg2">
                <a:lumMod val="90000"/>
              </a:schemeClr>
            </a:gs>
            <a:gs pos="94000">
              <a:srgbClr val="68E9E9"/>
            </a:gs>
            <a:gs pos="97000">
              <a:schemeClr val="accent1">
                <a:lumMod val="10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5D2619-5702-BB84-BA54-701C78A0A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04" b="89216" l="9184" r="97959">
                        <a14:foregroundMark x1="14486" y1="69551" x2="23469" y2="18627"/>
                        <a14:foregroundMark x1="23469" y1="18627" x2="75510" y2="13725"/>
                        <a14:foregroundMark x1="75510" y1="13725" x2="82653" y2="81373"/>
                        <a14:foregroundMark x1="82653" y1="81373" x2="49698" y2="79841"/>
                        <a14:foregroundMark x1="70408" y1="17647" x2="91837" y2="65686"/>
                        <a14:foregroundMark x1="91837" y1="65686" x2="80612" y2="23529"/>
                        <a14:foregroundMark x1="80612" y1="23529" x2="96939" y2="67647"/>
                        <a14:foregroundMark x1="50584" y1="80427" x2="77551" y2="84314"/>
                        <a14:foregroundMark x1="77551" y1="84314" x2="84694" y2="82353"/>
                        <a14:foregroundMark x1="84694" y1="82353" x2="47634" y2="85855"/>
                        <a14:foregroundMark x1="71429" y1="85294" x2="12245" y2="67647"/>
                        <a14:foregroundMark x1="12245" y1="67647" x2="13265" y2="26471"/>
                        <a14:foregroundMark x1="73469" y1="20588" x2="97959" y2="56863"/>
                        <a14:foregroundMark x1="74490" y1="88235" x2="14286" y2="77451"/>
                        <a14:foregroundMark x1="14286" y1="77451" x2="11224" y2="68627"/>
                        <a14:foregroundMark x1="19388" y1="82353" x2="21429" y2="88235"/>
                        <a14:backgroundMark x1="96939" y1="73529" x2="97364" y2="57192"/>
                        <a14:backgroundMark x1="10204" y1="73529" x2="13096" y2="7544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33450" cy="97155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C9801235-D5BB-7F46-CC04-3521ECF21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063884"/>
            <a:ext cx="10988842" cy="5447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This project demonstrated that replacing static hardware with adaptive software fundamentally transforms urban traffic management. Our research confirms that an AI-driven, state-machine model is not just an incremental improvement but a necessary evolution, delivering: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Condense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Tangible Efficiency: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Drastically reduced average wait times and idling, directly translating to lower fuel consumption and CO₂ emissions.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Condense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Enhanced Safety: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 Integrated, on-demand pedestrian crossing and unconditional priority for emergency services create a safer environment for all citizens.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Proof of Concept: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We successfully built a functional, interactive simulation that validates the core architecture's feasibility and superior performance over traditional systems.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The significance of this project lies in its blueprint for a scalable, intelligent infrastructure layer that can make our cities more livable, sustainable, and responsive.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Future Scope / Next Steps: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Condense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Networked Intersections: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 Creating "green waves" across multiple signals.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Real Sensor Integration: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 Using live camera or IoT sensor data instead of simulation.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Advanced AI: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 Implementing Machine Learning to predict traffic flow and optimize preemptively.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Public Transport Priority: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 Adding dedicated lanes and signal priority for buses.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9F94A8-E98A-C880-3090-05AC4BC48006}"/>
              </a:ext>
            </a:extLst>
          </p:cNvPr>
          <p:cNvSpPr txBox="1"/>
          <p:nvPr/>
        </p:nvSpPr>
        <p:spPr>
          <a:xfrm>
            <a:off x="4363452" y="355998"/>
            <a:ext cx="34811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>
                <a:latin typeface="Bahnschrift Condensed" panose="020B0502040204020203" pitchFamily="34" charset="0"/>
              </a:rPr>
              <a:t>CONCLUSION</a:t>
            </a:r>
            <a:endParaRPr lang="en-IN" sz="4000" b="1" u="sng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75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32B6A0-BAFD-881C-9433-F4F59450EB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716"/>
            <a:ext cx="12191999" cy="68767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5D2619-5702-BB84-BA54-701C78A0AF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04" b="89216" l="9184" r="97959">
                        <a14:foregroundMark x1="14486" y1="69551" x2="23469" y2="18627"/>
                        <a14:foregroundMark x1="23469" y1="18627" x2="75510" y2="13725"/>
                        <a14:foregroundMark x1="75510" y1="13725" x2="82653" y2="81373"/>
                        <a14:foregroundMark x1="82653" y1="81373" x2="49698" y2="79841"/>
                        <a14:foregroundMark x1="70408" y1="17647" x2="91837" y2="65686"/>
                        <a14:foregroundMark x1="91837" y1="65686" x2="80612" y2="23529"/>
                        <a14:foregroundMark x1="80612" y1="23529" x2="96939" y2="67647"/>
                        <a14:foregroundMark x1="50584" y1="80427" x2="77551" y2="84314"/>
                        <a14:foregroundMark x1="77551" y1="84314" x2="84694" y2="82353"/>
                        <a14:foregroundMark x1="84694" y1="82353" x2="47634" y2="85855"/>
                        <a14:foregroundMark x1="71429" y1="85294" x2="12245" y2="67647"/>
                        <a14:foregroundMark x1="12245" y1="67647" x2="13265" y2="26471"/>
                        <a14:foregroundMark x1="73469" y1="20588" x2="97959" y2="56863"/>
                        <a14:foregroundMark x1="74490" y1="88235" x2="14286" y2="77451"/>
                        <a14:foregroundMark x1="14286" y1="77451" x2="11224" y2="68627"/>
                        <a14:foregroundMark x1="19388" y1="82353" x2="21429" y2="88235"/>
                        <a14:backgroundMark x1="96939" y1="73529" x2="97364" y2="57192"/>
                        <a14:backgroundMark x1="10204" y1="73529" x2="13096" y2="7544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33450" cy="97155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FF62907-25AB-4E80-05A1-54D6574E7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2087" y="2488618"/>
            <a:ext cx="6027823" cy="186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reestyle Script" panose="030804020302050B0404" pitchFamily="66" charset="0"/>
              </a:rPr>
              <a:t>THANK</a:t>
            </a:r>
            <a:r>
              <a:rPr lang="en-US" altLang="en-US" sz="11500" dirty="0">
                <a:solidFill>
                  <a:schemeClr val="bg1"/>
                </a:solidFill>
                <a:latin typeface="Freestyle Script" panose="030804020302050B0404" pitchFamily="66" charset="0"/>
              </a:rPr>
              <a:t> </a:t>
            </a:r>
            <a:r>
              <a:rPr kumimoji="0" lang="en-US" altLang="en-US" sz="11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reestyle Script" panose="030804020302050B0404" pitchFamily="66" charset="0"/>
              </a:rPr>
              <a:t>YOU</a:t>
            </a:r>
            <a:endParaRPr kumimoji="0" lang="en-US" altLang="en-US" sz="23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reestyle Script" panose="030804020302050B04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35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1265</Words>
  <Application>Microsoft Office PowerPoint</Application>
  <PresentationFormat>Widescreen</PresentationFormat>
  <Paragraphs>118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Bahnschrift Condensed</vt:lpstr>
      <vt:lpstr>Century Gothic</vt:lpstr>
      <vt:lpstr>Freestyle Script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2</cp:revision>
  <dcterms:created xsi:type="dcterms:W3CDTF">2025-08-19T14:54:04Z</dcterms:created>
  <dcterms:modified xsi:type="dcterms:W3CDTF">2025-08-19T18:39:47Z</dcterms:modified>
</cp:coreProperties>
</file>